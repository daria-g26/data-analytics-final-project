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7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Assistant" panose="020F0502020204030204" pitchFamily="2" charset="-79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a daria" userId="f1eb9e4ac1b0d87a" providerId="LiveId" clId="{40126880-30D0-46F3-B8E2-E7AA99F8DE65}"/>
    <pc:docChg chg="modSld">
      <pc:chgData name="daria daria" userId="f1eb9e4ac1b0d87a" providerId="LiveId" clId="{40126880-30D0-46F3-B8E2-E7AA99F8DE65}" dt="2025-11-30T11:41:55.892" v="0" actId="1076"/>
      <pc:docMkLst>
        <pc:docMk/>
      </pc:docMkLst>
      <pc:sldChg chg="modSp mod">
        <pc:chgData name="daria daria" userId="f1eb9e4ac1b0d87a" providerId="LiveId" clId="{40126880-30D0-46F3-B8E2-E7AA99F8DE65}" dt="2025-11-30T11:41:55.892" v="0" actId="1076"/>
        <pc:sldMkLst>
          <pc:docMk/>
          <pc:sldMk cId="0" sldId="261"/>
        </pc:sldMkLst>
        <pc:picChg chg="mod">
          <ac:chgData name="daria daria" userId="f1eb9e4ac1b0d87a" providerId="LiveId" clId="{40126880-30D0-46F3-B8E2-E7AA99F8DE65}" dt="2025-11-30T11:41:55.892" v="0" actId="1076"/>
          <ac:picMkLst>
            <pc:docMk/>
            <pc:sldMk cId="0" sldId="261"/>
            <ac:picMk id="19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56d264711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b56d264711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b56d264711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b56d264711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af83f1124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af83f1124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b56d26471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b56d26471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b6a39fe8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b6a39fe8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6a39fe8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b6a39fe8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af83f1124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af83f1124d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b6a39fe8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b6a39fe8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b6a39fe8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b6a39fe8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b56d26471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b56d26471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af83f1124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af83f1124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b6a39fe85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b6a39fe85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b647448be2_1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b647448be2_1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>
            <a:spLocks noGrp="1"/>
          </p:cNvSpPr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Google Shape;33;p3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35" name="Google Shape;35;p3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37" name="Google Shape;37;p3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8" name="Google Shape;38;p3"/>
            <p:cNvPicPr preferRelativeResize="0"/>
            <p:nvPr/>
          </p:nvPicPr>
          <p:blipFill rotWithShape="1">
            <a:blip r:embed="rId2">
              <a:alphaModFix/>
            </a:blip>
            <a:srcRect l="377" r="387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 type="secHead">
  <p:cSld name="SECTION_HEADER">
    <p:bg>
      <p:bgPr>
        <a:noFill/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" name="Google Shape;100;p15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01" name="Google Shape;101;p15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15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04" name="Google Shape;104;p1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title" idx="2" hasCustomPrompt="1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 idx="4" hasCustomPrompt="1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21">
              <a:alphaModFix/>
            </a:blip>
            <a:srcRect l="79" r="79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11700" y="1239050"/>
            <a:ext cx="7976700" cy="17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80"/>
              <a:t>Rational vs. Emotional Well-Being: A European Paradox</a:t>
            </a:r>
            <a:endParaRPr sz="3980"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rational and emotional well-being diverge, and what role does physical activity play in this?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311700" y="4099375"/>
            <a:ext cx="29538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Daria Guliaieva</a:t>
            </a:r>
            <a:endParaRPr sz="10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lang="en" sz="10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Contact: dguliaieva@gmail.com</a:t>
            </a:r>
            <a:endParaRPr sz="10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 wanted to explore why emotional happiness doesn’t always match </a:t>
            </a:r>
            <a:br>
              <a:rPr lang="en" sz="2200"/>
            </a:br>
            <a:r>
              <a:rPr lang="en" sz="2200"/>
              <a:t>how people evaluate their lives.</a:t>
            </a: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/>
              <a:t>Physical activity was chosen as a simple, </a:t>
            </a:r>
            <a:br>
              <a:rPr lang="en" sz="2200"/>
            </a:br>
            <a:r>
              <a:rPr lang="en" sz="2200"/>
              <a:t>universal factor that might help explain this mismatch.</a:t>
            </a:r>
            <a:endParaRPr sz="22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144" name="Google Shape;144;p22"/>
          <p:cNvGrpSpPr/>
          <p:nvPr/>
        </p:nvGrpSpPr>
        <p:grpSpPr>
          <a:xfrm rot="2699785">
            <a:off x="482097" y="3770734"/>
            <a:ext cx="1208946" cy="982653"/>
            <a:chOff x="2318413" y="2452450"/>
            <a:chExt cx="1067700" cy="867900"/>
          </a:xfrm>
        </p:grpSpPr>
        <p:sp>
          <p:nvSpPr>
            <p:cNvPr id="145" name="Google Shape;145;p22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7675" y="2138900"/>
            <a:ext cx="2044650" cy="21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and Data Sources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Cantril Ladder (rational well-being)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Respondents rate their life on a 0–10 ladder (“best possible life”).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Source: Our World in Data, which uses the Gallup World Poll - a large-scale, globally standardized survey.</a:t>
            </a:r>
            <a:endParaRPr sz="1700"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Physical inactivity (activity is calculated from this data)</a:t>
            </a:r>
            <a:endParaRPr b="1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Share of adults insufficiently active according to WHO physical activity recommendations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Based on self-reported data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Source: World Health Organization</a:t>
            </a:r>
            <a:endParaRPr sz="1700"/>
          </a:p>
        </p:txBody>
      </p:sp>
      <p:sp>
        <p:nvSpPr>
          <p:cNvPr id="155" name="Google Shape;155;p2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Happiness (emotional well-being)</a:t>
            </a:r>
            <a:endParaRPr b="1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% of people who report feeling “happy” or “rather happy.”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Source: Our World in Data, which uses the Gallup World Poll - a large-scale, globally standardized survey.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8457" y="4163482"/>
            <a:ext cx="538965" cy="42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3469" y="4163532"/>
            <a:ext cx="535333" cy="42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9814" y="4163482"/>
            <a:ext cx="423473" cy="4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7726500" cy="8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Plot: Emotional Happiness vs Life Evaluation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11700" y="1209300"/>
            <a:ext cx="3166800" cy="34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There </a:t>
            </a:r>
            <a:r>
              <a:rPr lang="en" sz="1400" i="1"/>
              <a:t>is</a:t>
            </a:r>
            <a:r>
              <a:rPr lang="en" sz="1400"/>
              <a:t> a correlation, but it is not very strong.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10 countries clearly break the usual pattern:</a:t>
            </a:r>
            <a:endParaRPr sz="1400"/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ssistant"/>
              <a:buChar char="●"/>
            </a:pPr>
            <a:r>
              <a:rPr lang="en" sz="1400"/>
              <a:t>emotional happiness above 80%,</a:t>
            </a:r>
            <a:br>
              <a:rPr lang="en" sz="1400"/>
            </a:b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ssistant"/>
              <a:buChar char="●"/>
            </a:pPr>
            <a:r>
              <a:rPr lang="en" sz="1400"/>
              <a:t>but life evaluation below the European average of 6.45.</a:t>
            </a:r>
            <a:br>
              <a:rPr lang="en" sz="1400"/>
            </a:b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I call these countries the Paradox Countries.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167" name="Google Shape;167;p24"/>
          <p:cNvGrpSpPr/>
          <p:nvPr/>
        </p:nvGrpSpPr>
        <p:grpSpPr>
          <a:xfrm rot="8100000">
            <a:off x="570479" y="927369"/>
            <a:ext cx="432300" cy="351403"/>
            <a:chOff x="2318413" y="2452450"/>
            <a:chExt cx="1067700" cy="867900"/>
          </a:xfrm>
        </p:grpSpPr>
        <p:sp>
          <p:nvSpPr>
            <p:cNvPr id="168" name="Google Shape;168;p24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1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5500" tIns="55500" rIns="55500" bIns="55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4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1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5500" tIns="55500" rIns="55500" bIns="55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p24"/>
          <p:cNvGrpSpPr/>
          <p:nvPr/>
        </p:nvGrpSpPr>
        <p:grpSpPr>
          <a:xfrm rot="2700000">
            <a:off x="2195051" y="4025233"/>
            <a:ext cx="1067690" cy="867892"/>
            <a:chOff x="2258813" y="3584825"/>
            <a:chExt cx="1067700" cy="867900"/>
          </a:xfrm>
        </p:grpSpPr>
        <p:sp>
          <p:nvSpPr>
            <p:cNvPr id="171" name="Google Shape;171;p24"/>
            <p:cNvSpPr/>
            <p:nvPr/>
          </p:nvSpPr>
          <p:spPr>
            <a:xfrm>
              <a:off x="2258813" y="36610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4"/>
            <p:cNvSpPr/>
            <p:nvPr/>
          </p:nvSpPr>
          <p:spPr>
            <a:xfrm>
              <a:off x="2411213" y="35848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3" name="Google Shape;173;p24" title="Cantril ladder score vs. Happiness (Happy aggregate) across European Count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549" y="1098476"/>
            <a:ext cx="5320697" cy="34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</a:rPr>
              <a:t>Let's see if physical activity can explain why people in these countries consider themselves happy despite not achieving high levels on the Cantril scale. </a:t>
            </a:r>
            <a:endParaRPr sz="2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F1F1F"/>
                </a:solidFill>
                <a:highlight>
                  <a:srgbClr val="FFFFFF"/>
                </a:highlight>
              </a:rPr>
              <a:t>To do this, we'll compare their activity levels with the European average.</a:t>
            </a:r>
            <a:endParaRPr sz="30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7112" y="2881995"/>
            <a:ext cx="3989770" cy="15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096100" cy="8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 Plot: Physical Activity in Paradox Countries vs Europe Average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86" name="Google Shape;186;p26"/>
          <p:cNvSpPr txBox="1">
            <a:spLocks noGrp="1"/>
          </p:cNvSpPr>
          <p:nvPr>
            <p:ph type="body" idx="1"/>
          </p:nvPr>
        </p:nvSpPr>
        <p:spPr>
          <a:xfrm>
            <a:off x="509550" y="1380150"/>
            <a:ext cx="2421300" cy="14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 rot="8100000">
            <a:off x="1342529" y="167194"/>
            <a:ext cx="432300" cy="351403"/>
            <a:chOff x="2318413" y="2452450"/>
            <a:chExt cx="1067700" cy="867900"/>
          </a:xfrm>
        </p:grpSpPr>
        <p:sp>
          <p:nvSpPr>
            <p:cNvPr id="189" name="Google Shape;189;p26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1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5500" tIns="55500" rIns="55500" bIns="55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1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5500" tIns="55500" rIns="55500" bIns="55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26"/>
          <p:cNvGrpSpPr/>
          <p:nvPr/>
        </p:nvGrpSpPr>
        <p:grpSpPr>
          <a:xfrm rot="6050896">
            <a:off x="7993888" y="3799249"/>
            <a:ext cx="1140832" cy="927347"/>
            <a:chOff x="2258813" y="3584825"/>
            <a:chExt cx="1067700" cy="867900"/>
          </a:xfrm>
        </p:grpSpPr>
        <p:sp>
          <p:nvSpPr>
            <p:cNvPr id="192" name="Google Shape;192;p26"/>
            <p:cNvSpPr/>
            <p:nvPr/>
          </p:nvSpPr>
          <p:spPr>
            <a:xfrm>
              <a:off x="2258813" y="36610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203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700" tIns="97700" rIns="97700" bIns="97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2411213" y="35848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203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700" tIns="97700" rIns="97700" bIns="97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4" name="Google Shape;194;p26" title="Physical Activity Levels in Paradox Countries vs Europe Aver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99" y="1209300"/>
            <a:ext cx="7283624" cy="364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Well-Being Leaders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let's look at the opposite group — the countries that rank very high on </a:t>
            </a:r>
            <a:r>
              <a:rPr lang="en" i="1"/>
              <a:t>both</a:t>
            </a:r>
            <a:r>
              <a:rPr lang="en"/>
              <a:t> well-being dimensions.</a:t>
            </a:r>
            <a:endParaRPr sz="25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 10 countries by Life Evaluation (Cantril)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 10 countries by Emotional Well-Being (Happy %)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Intersection of both groups</a:t>
            </a:r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202" name="Google Shape;202;p27"/>
          <p:cNvGrpSpPr/>
          <p:nvPr/>
        </p:nvGrpSpPr>
        <p:grpSpPr>
          <a:xfrm>
            <a:off x="311661" y="3944677"/>
            <a:ext cx="718488" cy="718488"/>
            <a:chOff x="3717325" y="2137000"/>
            <a:chExt cx="1104178" cy="1104176"/>
          </a:xfrm>
        </p:grpSpPr>
        <p:sp>
          <p:nvSpPr>
            <p:cNvPr id="203" name="Google Shape;203;p27"/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" name="Google Shape;205;p27"/>
          <p:cNvGrpSpPr/>
          <p:nvPr/>
        </p:nvGrpSpPr>
        <p:grpSpPr>
          <a:xfrm rot="10800000">
            <a:off x="7557850" y="1607810"/>
            <a:ext cx="1104178" cy="1104176"/>
            <a:chOff x="4185575" y="3320360"/>
            <a:chExt cx="1104178" cy="1104176"/>
          </a:xfrm>
        </p:grpSpPr>
        <p:sp>
          <p:nvSpPr>
            <p:cNvPr id="206" name="Google Shape;206;p27"/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4171500" cy="61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Intersection of Top Countries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13" name="Google Shape;213;p28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214" name="Google Shape;214;p28"/>
          <p:cNvGrpSpPr/>
          <p:nvPr/>
        </p:nvGrpSpPr>
        <p:grpSpPr>
          <a:xfrm rot="8100000">
            <a:off x="372629" y="4210419"/>
            <a:ext cx="432300" cy="351403"/>
            <a:chOff x="2318413" y="2452450"/>
            <a:chExt cx="1067700" cy="867900"/>
          </a:xfrm>
        </p:grpSpPr>
        <p:sp>
          <p:nvSpPr>
            <p:cNvPr id="215" name="Google Shape;215;p28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1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5500" tIns="55500" rIns="55500" bIns="55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157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5500" tIns="55500" rIns="55500" bIns="55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28"/>
          <p:cNvGrpSpPr/>
          <p:nvPr/>
        </p:nvGrpSpPr>
        <p:grpSpPr>
          <a:xfrm rot="6050896">
            <a:off x="7993888" y="3799249"/>
            <a:ext cx="1140832" cy="927347"/>
            <a:chOff x="2258813" y="3584825"/>
            <a:chExt cx="1067700" cy="867900"/>
          </a:xfrm>
        </p:grpSpPr>
        <p:sp>
          <p:nvSpPr>
            <p:cNvPr id="218" name="Google Shape;218;p28"/>
            <p:cNvSpPr/>
            <p:nvPr/>
          </p:nvSpPr>
          <p:spPr>
            <a:xfrm>
              <a:off x="2258813" y="36610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203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700" tIns="97700" rIns="97700" bIns="97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8"/>
            <p:cNvSpPr/>
            <p:nvPr/>
          </p:nvSpPr>
          <p:spPr>
            <a:xfrm>
              <a:off x="2411213" y="35848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203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700" tIns="97700" rIns="97700" bIns="97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0" name="Google Shape;220;p28" title="overlap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480" y="957950"/>
            <a:ext cx="5730176" cy="40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096100" cy="8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/>
              <a:t>Bar Plot: Physical Activity in Well-Being Leaders vs Europe Average</a:t>
            </a:r>
            <a:endParaRPr sz="2060"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26" name="Google Shape;226;p29"/>
          <p:cNvSpPr txBox="1">
            <a:spLocks noGrp="1"/>
          </p:cNvSpPr>
          <p:nvPr>
            <p:ph type="body" idx="1"/>
          </p:nvPr>
        </p:nvSpPr>
        <p:spPr>
          <a:xfrm>
            <a:off x="509550" y="1380150"/>
            <a:ext cx="2421300" cy="14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228" name="Google Shape;228;p29" title="Physical Activity Levels in Top Countries vs Europe Average.png"/>
          <p:cNvPicPr preferRelativeResize="0"/>
          <p:nvPr/>
        </p:nvPicPr>
        <p:blipFill rotWithShape="1">
          <a:blip r:embed="rId3">
            <a:alphaModFix/>
          </a:blip>
          <a:srcRect l="1248" r="1248"/>
          <a:stretch/>
        </p:blipFill>
        <p:spPr>
          <a:xfrm>
            <a:off x="717938" y="951375"/>
            <a:ext cx="7283622" cy="364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6542100" cy="43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Conclusion</a:t>
            </a:r>
            <a:endParaRPr sz="4600"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 rot="2700000">
            <a:off x="972201" y="2900483"/>
            <a:ext cx="1044538" cy="903682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1"/>
          <p:cNvSpPr/>
          <p:nvPr/>
        </p:nvSpPr>
        <p:spPr>
          <a:xfrm>
            <a:off x="2080213" y="1502101"/>
            <a:ext cx="1529700" cy="1529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1"/>
          <p:cNvSpPr/>
          <p:nvPr/>
        </p:nvSpPr>
        <p:spPr>
          <a:xfrm rot="8100000">
            <a:off x="7392632" y="1471406"/>
            <a:ext cx="1044538" cy="903682"/>
          </a:xfrm>
          <a:prstGeom prst="triangle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1"/>
          <p:cNvSpPr/>
          <p:nvPr/>
        </p:nvSpPr>
        <p:spPr>
          <a:xfrm flipH="1">
            <a:off x="5457881" y="2111705"/>
            <a:ext cx="1529700" cy="1529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activity is helpful, but not decisive.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Paradox Countries (high emotions, low life evaluation) seem influenced by: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Cultural differences in how people judge their life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Strong family connections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Warmer climates and lifestyle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Religious values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Well-Being Leaders succeed because of structural factors:</a:t>
            </a:r>
            <a:endParaRPr b="1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 income and economic stability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Strong social protection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Low corruption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Quality healthcare and education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>
            <a:spLocks noGrp="1"/>
          </p:cNvSpPr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2" name="Google Shape;252;p32"/>
          <p:cNvSpPr txBox="1">
            <a:spLocks noGrp="1"/>
          </p:cNvSpPr>
          <p:nvPr>
            <p:ph type="body" idx="2"/>
          </p:nvPr>
        </p:nvSpPr>
        <p:spPr>
          <a:xfrm>
            <a:off x="5166800" y="411600"/>
            <a:ext cx="3419400" cy="432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Analyze each factor of well-being separately (income, social support, health, freedom, corruption, climate, culture)</a:t>
            </a:r>
            <a:endParaRPr sz="1900"/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Compare their importance for emotional and rational well-being</a:t>
            </a:r>
            <a:endParaRPr sz="1900"/>
          </a:p>
          <a:p>
            <a:pPr marL="457200" lvl="0" indent="-349250" algn="l" rtl="0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Check trends over a period of time, not just for one year</a:t>
            </a:r>
            <a:endParaRPr sz="19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>
            <a:spLocks noGrp="1"/>
          </p:cNvSpPr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59" name="Google Shape;259;p33"/>
          <p:cNvSpPr txBox="1">
            <a:spLocks noGrp="1"/>
          </p:cNvSpPr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Thanks a lot!</a:t>
            </a:r>
            <a:endParaRPr sz="5100"/>
          </a:p>
        </p:txBody>
      </p:sp>
      <p:grpSp>
        <p:nvGrpSpPr>
          <p:cNvPr id="260" name="Google Shape;260;p33"/>
          <p:cNvGrpSpPr/>
          <p:nvPr/>
        </p:nvGrpSpPr>
        <p:grpSpPr>
          <a:xfrm rot="8100401">
            <a:off x="1242910" y="3274358"/>
            <a:ext cx="1293126" cy="1051081"/>
            <a:chOff x="2318413" y="2452450"/>
            <a:chExt cx="1067700" cy="867900"/>
          </a:xfrm>
        </p:grpSpPr>
        <p:sp>
          <p:nvSpPr>
            <p:cNvPr id="261" name="Google Shape;261;p33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25275" cap="flat" cmpd="sng">
              <a:solidFill>
                <a:srgbClr val="F9C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300" tIns="121300" rIns="121300" bIns="121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3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25275" cap="flat" cmpd="sng">
              <a:solidFill>
                <a:srgbClr val="EA5B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300" tIns="121300" rIns="121300" bIns="1213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57"/>
            </a:p>
          </p:txBody>
        </p:sp>
      </p:grpSp>
      <p:grpSp>
        <p:nvGrpSpPr>
          <p:cNvPr id="263" name="Google Shape;263;p33"/>
          <p:cNvGrpSpPr/>
          <p:nvPr/>
        </p:nvGrpSpPr>
        <p:grpSpPr>
          <a:xfrm rot="-1597327">
            <a:off x="379791" y="3260759"/>
            <a:ext cx="527292" cy="428620"/>
            <a:chOff x="2258813" y="3584825"/>
            <a:chExt cx="1067700" cy="867900"/>
          </a:xfrm>
        </p:grpSpPr>
        <p:sp>
          <p:nvSpPr>
            <p:cNvPr id="264" name="Google Shape;264;p33"/>
            <p:cNvSpPr/>
            <p:nvPr/>
          </p:nvSpPr>
          <p:spPr>
            <a:xfrm>
              <a:off x="2258813" y="36610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0300" cap="flat" cmpd="sng">
              <a:solidFill>
                <a:srgbClr val="CDE6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9450" tIns="49450" rIns="49450" bIns="49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2411213" y="35848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0300" cap="flat" cmpd="sng">
              <a:solidFill>
                <a:srgbClr val="58AD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9450" tIns="49450" rIns="49450" bIns="494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" name="Google Shape;266;p33"/>
          <p:cNvGrpSpPr/>
          <p:nvPr/>
        </p:nvGrpSpPr>
        <p:grpSpPr>
          <a:xfrm flipH="1">
            <a:off x="5840075" y="1814797"/>
            <a:ext cx="1394466" cy="1394464"/>
            <a:chOff x="5999050" y="3320360"/>
            <a:chExt cx="1104178" cy="1104176"/>
          </a:xfrm>
        </p:grpSpPr>
        <p:sp>
          <p:nvSpPr>
            <p:cNvPr id="267" name="Google Shape;267;p33"/>
            <p:cNvSpPr/>
            <p:nvPr/>
          </p:nvSpPr>
          <p:spPr>
            <a:xfrm>
              <a:off x="5999050" y="3421936"/>
              <a:ext cx="1002600" cy="1002600"/>
            </a:xfrm>
            <a:prstGeom prst="ellipse">
              <a:avLst/>
            </a:prstGeom>
            <a:noFill/>
            <a:ln w="26350" cap="flat" cmpd="sng">
              <a:solidFill>
                <a:srgbClr val="CDE6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6500" tIns="126500" rIns="126500" bIns="12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6100628" y="3320360"/>
              <a:ext cx="1002600" cy="1002600"/>
            </a:xfrm>
            <a:prstGeom prst="ellipse">
              <a:avLst/>
            </a:prstGeom>
            <a:noFill/>
            <a:ln w="26350" cap="flat" cmpd="sng">
              <a:solidFill>
                <a:srgbClr val="58AD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6500" tIns="126500" rIns="126500" bIns="12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269;p33"/>
          <p:cNvGrpSpPr/>
          <p:nvPr/>
        </p:nvGrpSpPr>
        <p:grpSpPr>
          <a:xfrm>
            <a:off x="6414131" y="3831355"/>
            <a:ext cx="1007893" cy="1007892"/>
            <a:chOff x="3717325" y="2137000"/>
            <a:chExt cx="1104178" cy="1104176"/>
          </a:xfrm>
        </p:grpSpPr>
        <p:sp>
          <p:nvSpPr>
            <p:cNvPr id="270" name="Google Shape;270;p33"/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rgbClr val="EA5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On-screen Show (16:9)</PresentationFormat>
  <Paragraphs>63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Assistant</vt:lpstr>
      <vt:lpstr>Arial</vt:lpstr>
      <vt:lpstr>Simple Light</vt:lpstr>
      <vt:lpstr>Rational vs. Emotional Well-Being: A European Paradox</vt:lpstr>
      <vt:lpstr>Motivation</vt:lpstr>
      <vt:lpstr>Metrics and Data Sources</vt:lpstr>
      <vt:lpstr>Scatter Plot: Emotional Happiness vs Life Evaluation</vt:lpstr>
      <vt:lpstr>PowerPoint Presentation</vt:lpstr>
      <vt:lpstr>Bar Plot: Physical Activity in Paradox Countries vs Europe Average</vt:lpstr>
      <vt:lpstr>Well-Being Leaders</vt:lpstr>
      <vt:lpstr>Intersection of Top Countries</vt:lpstr>
      <vt:lpstr>Bar Plot: Physical Activity in Well-Being Leaders vs Europe Average</vt:lpstr>
      <vt:lpstr>Conclusion</vt:lpstr>
      <vt:lpstr>Physical activity is helpful, but not decisive.</vt:lpstr>
      <vt:lpstr>Future work</vt:lpstr>
      <vt:lpstr>Thanks a lot!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daria daria</cp:lastModifiedBy>
  <cp:revision>1</cp:revision>
  <dcterms:modified xsi:type="dcterms:W3CDTF">2025-11-30T11:41:58Z</dcterms:modified>
</cp:coreProperties>
</file>